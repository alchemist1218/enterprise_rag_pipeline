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Arial"/>
              </a:defRPr>
            </a:pPr>
            <a:r>
              <a:t>GLOBAL MARKET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t>Product A</a:t>
            </a:r>
            <a:br/>
          </a:p>
          <a:p>
            <a:pPr>
              <a:defRPr sz="1400">
                <a:solidFill>
                  <a:srgbClr val="787878"/>
                </a:solidFill>
              </a:defRPr>
            </a:pPr>
            <a:r>
              <a:t>Market Share / Status</a:t>
            </a:r>
            <a:br/>
          </a:p>
          <a:p>
            <a:pPr>
              <a:defRPr sz="3600" b="1">
                <a:solidFill>
                  <a:srgbClr val="1F4E79"/>
                </a:solidFill>
              </a:defRPr>
            </a:pPr>
            <a:r>
              <a:t>42%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371600"/>
            <a:ext cx="18288" cy="23774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114800" cy="30450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9319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 b="1">
                <a:solidFill>
                  <a:srgbClr val="2F5597"/>
                </a:solidFill>
                <a:latin typeface="Arial"/>
              </a:defRPr>
            </a:pPr>
            <a:r>
              <a:t>Key Insight: Product A holds a dominant 42% share, driven by strong hospital channel adoption.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Product B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28%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5029200"/>
            <a:ext cx="18288" cy="10972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Product C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18%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Arial"/>
              </a:defRPr>
            </a:pPr>
            <a:r>
              <a:t>THERAPEUTIC AREA PIPELINE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t>Phase II Candidates</a:t>
            </a:r>
            <a:br/>
          </a:p>
          <a:p>
            <a:pPr>
              <a:defRPr sz="1400">
                <a:solidFill>
                  <a:srgbClr val="787878"/>
                </a:solidFill>
              </a:defRPr>
            </a:pPr>
            <a:r>
              <a:t>Market Share / Status</a:t>
            </a:r>
            <a:br/>
          </a:p>
          <a:p>
            <a:pPr>
              <a:defRPr sz="3600" b="1">
                <a:solidFill>
                  <a:srgbClr val="1F4E79"/>
                </a:solidFill>
              </a:defRPr>
            </a:pPr>
            <a:r>
              <a:t>14 Assets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371600"/>
            <a:ext cx="18288" cy="23774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114800" cy="30503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9319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 b="1">
                <a:solidFill>
                  <a:srgbClr val="2F5597"/>
                </a:solidFill>
                <a:latin typeface="Arial"/>
              </a:defRPr>
            </a:pPr>
            <a:r>
              <a:t>Key Insight: Pipeline Velocity: Phase II assets expanded by 14% this quarter, signaling strong mid-stage clinical maturity.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Phase I Pipeline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8 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5029200"/>
            <a:ext cx="18288" cy="10972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Phase III Registrations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5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4E79"/>
                </a:solidFill>
                <a:latin typeface="Arial"/>
              </a:defRPr>
            </a:pPr>
            <a:r>
              <a:t>PATIENT ADHERENCE &amp; LONGITUDINAL ENGAGEMENT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C3C3C"/>
                </a:solidFill>
              </a:defRPr>
            </a:pPr>
            <a:r>
              <a:t>High Adherence Cohort</a:t>
            </a:r>
            <a:br/>
          </a:p>
          <a:p>
            <a:pPr>
              <a:defRPr sz="1400">
                <a:solidFill>
                  <a:srgbClr val="787878"/>
                </a:solidFill>
              </a:defRPr>
            </a:pPr>
            <a:r>
              <a:t>Market Share / Status</a:t>
            </a:r>
            <a:br/>
          </a:p>
          <a:p>
            <a:pPr>
              <a:defRPr sz="3600" b="1">
                <a:solidFill>
                  <a:srgbClr val="1F4E79"/>
                </a:solidFill>
              </a:defRPr>
            </a:pPr>
            <a:r>
              <a:t>65%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720" y="1371600"/>
            <a:ext cx="18288" cy="237744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4114800" cy="305035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393192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11094415" cy="7315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i="1" b="1">
                <a:solidFill>
                  <a:srgbClr val="2F5597"/>
                </a:solidFill>
                <a:latin typeface="Arial"/>
              </a:defRPr>
            </a:pPr>
            <a:r>
              <a:t>Key Insight: Adherence Driver: Digital companion applications boosted High Adherence tiers by 12% longitudinally.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37760"/>
            <a:ext cx="11094415" cy="18288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Medium Adherence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23%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5029200"/>
            <a:ext cx="18288" cy="10972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050"/>
                </a:solidFill>
              </a:defRPr>
            </a:pPr>
            <a:r>
              <a:t>Low Adherence / Dropouts</a:t>
            </a:r>
          </a:p>
          <a:p>
            <a:pPr>
              <a:defRPr sz="2400" b="1">
                <a:solidFill>
                  <a:srgbClr val="4072C4"/>
                </a:solidFill>
              </a:defRPr>
            </a:pPr>
            <a:r>
              <a:t>12%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